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dud12123@naver.com" userId="3484c27dfd85c40e" providerId="LiveId" clId="{5E51A59A-0D3D-425A-AA7E-5937CAD17F54}"/>
    <pc:docChg chg="modSld">
      <pc:chgData name="wodud12123@naver.com" userId="3484c27dfd85c40e" providerId="LiveId" clId="{5E51A59A-0D3D-425A-AA7E-5937CAD17F54}" dt="2026-05-17T09:00:13.914" v="119" actId="20577"/>
      <pc:docMkLst>
        <pc:docMk/>
      </pc:docMkLst>
      <pc:sldChg chg="modSp mod">
        <pc:chgData name="wodud12123@naver.com" userId="3484c27dfd85c40e" providerId="LiveId" clId="{5E51A59A-0D3D-425A-AA7E-5937CAD17F54}" dt="2026-05-17T07:49:54.278" v="37" actId="20577"/>
        <pc:sldMkLst>
          <pc:docMk/>
          <pc:sldMk cId="0" sldId="258"/>
        </pc:sldMkLst>
        <pc:spChg chg="mod">
          <ac:chgData name="wodud12123@naver.com" userId="3484c27dfd85c40e" providerId="LiveId" clId="{5E51A59A-0D3D-425A-AA7E-5937CAD17F54}" dt="2026-05-17T07:49:54.278" v="37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wodud12123@naver.com" userId="3484c27dfd85c40e" providerId="LiveId" clId="{5E51A59A-0D3D-425A-AA7E-5937CAD17F54}" dt="2026-05-17T07:50:53.171" v="49" actId="20577"/>
        <pc:sldMkLst>
          <pc:docMk/>
          <pc:sldMk cId="0" sldId="259"/>
        </pc:sldMkLst>
        <pc:spChg chg="mod">
          <ac:chgData name="wodud12123@naver.com" userId="3484c27dfd85c40e" providerId="LiveId" clId="{5E51A59A-0D3D-425A-AA7E-5937CAD17F54}" dt="2026-05-17T07:50:53.171" v="49" actId="20577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wodud12123@naver.com" userId="3484c27dfd85c40e" providerId="LiveId" clId="{5E51A59A-0D3D-425A-AA7E-5937CAD17F54}" dt="2026-05-17T04:36:45.578" v="11" actId="20577"/>
        <pc:sldMkLst>
          <pc:docMk/>
          <pc:sldMk cId="0" sldId="264"/>
        </pc:sldMkLst>
        <pc:spChg chg="mod">
          <ac:chgData name="wodud12123@naver.com" userId="3484c27dfd85c40e" providerId="LiveId" clId="{5E51A59A-0D3D-425A-AA7E-5937CAD17F54}" dt="2026-05-17T04:36:45.578" v="11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wodud12123@naver.com" userId="3484c27dfd85c40e" providerId="LiveId" clId="{5E51A59A-0D3D-425A-AA7E-5937CAD17F54}" dt="2026-05-17T09:00:13.914" v="119" actId="20577"/>
        <pc:sldMkLst>
          <pc:docMk/>
          <pc:sldMk cId="0" sldId="271"/>
        </pc:sldMkLst>
        <pc:spChg chg="mod">
          <ac:chgData name="wodud12123@naver.com" userId="3484c27dfd85c40e" providerId="LiveId" clId="{5E51A59A-0D3D-425A-AA7E-5937CAD17F54}" dt="2026-05-17T09:00:13.914" v="119" actId="20577"/>
          <ac:spMkLst>
            <pc:docMk/>
            <pc:sldMk cId="0" sldId="271"/>
            <ac:spMk id="13" creationId="{00000000-0000-0000-0000-000000000000}"/>
          </ac:spMkLst>
        </pc:spChg>
      </pc:sldChg>
      <pc:sldChg chg="modSp mod">
        <pc:chgData name="wodud12123@naver.com" userId="3484c27dfd85c40e" providerId="LiveId" clId="{5E51A59A-0D3D-425A-AA7E-5937CAD17F54}" dt="2026-05-17T04:36:14.527" v="3" actId="20577"/>
        <pc:sldMkLst>
          <pc:docMk/>
          <pc:sldMk cId="0" sldId="272"/>
        </pc:sldMkLst>
        <pc:spChg chg="mod">
          <ac:chgData name="wodud12123@naver.com" userId="3484c27dfd85c40e" providerId="LiveId" clId="{5E51A59A-0D3D-425A-AA7E-5937CAD17F54}" dt="2026-05-17T04:36:14.527" v="3" actId="20577"/>
          <ac:spMkLst>
            <pc:docMk/>
            <pc:sldMk cId="0" sldId="27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957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[0:00-0:30 / 30초]
인사 + 자기소개.
"안녕하세요, 임재영입니다. 오늘 발표할 프로젝트는 '북마크 도서관'입니다."
부제 한 번 더 짚어주기:
"내 북마크가 한 권의 책이 된다면, 이라는 가설로 시작한 풀스택 프로젝트입니다."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[0:30-1:00 / 30초]
청중과 눈 마주치며 질문 던지기. 답을 기다리지 말고 한 박자 쉬고 다음 슬라이드로.
"여러분 북마크 폴더 마지막으로 정리한 게 언제인가요?"
"저는 한 5년 됐고, 그 사이 600개가 쌓였습니다."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[1:00-1:45 / 45초]
좌측 카드 — "지금의 북마크는 일렬 나열식 폴더입니다. 많아질수록 못 찾고, 봐도 뿌듯한 게 없습니다."
우측 카드 강조 — "그런데 사람은 잘 정리된 책장을 보면 뿌듯해 하잖아요. 그 감정을 북마크 관리에 입혀보자가 출발점입니다."
이게 발표 전체의 핵심 메시지: "기능 위에 감정 한 겹을 얹으면 사용자가 달라진다."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[1:45-2:30 / 45초]
좌측 매핑 3개를 차례로 짚기 — "북마크는 책 / 폴더는 책장 / 사용자는 도서관."
우측 스크린샷 가리키며 — "이게 실제 화면입니다. 위에서 내려다보는 평면도예요. 좌우 벽에 책장, 가운데 가게는 베스트셀러 자리, 아래쪽이 입구입니다. 마지막에 실제로 보여드릴게요."
"왜 굳이 평면도냐, 는 뒤에서 설명드리겠습니다." (다음 슬라이드로 자연 전환)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[2:30-3:15 / 45초]
큰 인용구를 천천히 읽기. "이 한 문장이 모든 결정의 기준이 됐습니다."
"성공 지표는 사용자 수가 아니라, 꾸미고 자랑하고 싶어지는가."
계보 chips — "이 제품은 싸이월드 미니홈피, 노션, 핀터레스트 같은 '꾸미고 보여주는 서비스' 계보에 있습니다. 단순한 도구가 아니에요."
청중 연령에 맞춰 싸이월드 또는 노션 중 하나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[3:15-4:00 / 45초]
큰 숫자 3개 — "사용자당 도서관 3개, 도서관당 책장 8개, 책장당 책 30권. 일부러 한도를 둡니다."
"무제한이면 단순한 보관함이 되거든요. 한도가 있어야 '큐레이션'이 됩니다."
"한도가 넘는 북마크는 '창고'라는 별도 공간에 무제한 보관합니다. 데이터는 안 잃으면서 도서관은 깨끗하게."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[4:00-4:45 / 45초]
"기능을 추가할지 말지 고민될 때마다, 이 두 질문을 통과시킵니다."
Q1, Q2 차례로 짚기.
"이 덕분에 '자동 정렬 기능 넣어주세요' 같은 합리적으로 보이는 요청을 거절할 수 있었어요. 자동 정렬은 '직접 꾸민다'는 이 제품의 핵심 컨셉과 충돌하니까요."
"비전이 명확하면 결정이 단순해진다 — 마지막 슬라이드에서 다시 짚을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[4:45-5:30 / 45초]
4박스를 좌→우로 흐름 짚기.
"사용자가 브라우저로 접속하면, 화면은 Vercel이라는 곳에서 띄워주고, 로직은 Railway라는 곳에서 Spring Boot 서버가 처리합니다. 데이터는 PostgreSQL에 저장하고, AI 분류는 구글 Gemini를 씁니다."
하단 3패턴 — "이 중 흥미로운 결정 몇 가지를 다음 슬라이드부터 자세히 보여드립니다."
가볍게 넘기는 슬라이드 — 다음부터가 본격 기술 파트.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[5:30-6:15 / 45초]
3컬럼 빠르게 짚기. 모든 항목 다 읽지 않아도 됨.
"백엔드는 학원에서 배운 Spring Boot 기반, 프론트엔드는 React, 그리고 무료 호스팅 서비스에 올렸습니다. AI는 구글 Gemini 무료 모델을 썼고요."
"각 도구를 왜 골랐는지는 다음 결정 5개에서 자세히 설명드립니다."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[6:15-7:00 / 45초]
"가장 먼저 결정해야 했던 게, 이 평면도를 어떻게 그릴지였습니다."
옵션 짚기 — "일반 HTML로 그리면 책 100권이 모바일에서 너무 느리고, SVG는 애니메이션 제어가 어렵고, 캔버스는 GPU 가속이 안 됩니다."
"그래서 Pixi.js라는 게임용 그래픽 라이브러리를 골랐습니다. 게임 엔진처럼 GPU를 써서 빠르고, 시간대 전환도 부드럽게 처리할 수 있어요."
"이번 주 외부 디자이너랑 협업해서 평면도 비주얼을 전면 리뉴얼했습니다. 데모에서 시간대 전환 부분 보여드리면 임팩트 있을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[7:00-7:45 / 45초]
"운영 환경에 배포한 직후에 가장 인상적인 버그가 있었습니다."
"구글 로그인 자체는 잘 되는데, 마지막 단계에서 에러가 났어요. 알고 보니 화면 주소(vercel)와 서버 주소(railway)가 달라서, 로그인 정보가 화면 도메인에만 저장돼 서버에는 따라오지 못한 거였습니다."
"이런 에러는 학원에서 안 가르치는 종류라 한참 헤맸어요. 진단에 반나절 걸리고, 막상 픽스는 설정 한 줄이었습니다."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[7:45-8:30 / 45초]
"디스코드나 카톡, 트위터에 주소를 붙이면 미리보기 카드가 뜨잖아요. 입소문에 굉장히 중요한 요소입니다."
"그런데 React로 만든 사이트는 봇이 와도 빈 화면으로 인식해서 미리보기가 안 떠요."
"해결: 봇만 따로 구분해서 미리보기용 화면을 따로 응답하고, 사람에게는 평소대로 React 사이트를 보여줍니다."
"이렇게 하면 SNS 봇은 미리보기 카드를 받고, 사람 사용자 경험은 그대로 유지됩니다."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[8:30-9:15 / 45초]
"모든 도서관이 같은 미리보기 이미지면, 친구가 받았을 때 '내 거다'라는 느낌이 안 나죠."
"옵션: 화면을 매번 캡처해서 저장하면 용량이 폭발하고, 요청 올 때마다 다시 그리면 느립니다."
"해결: 서버에서 도서관별로 책 색깔만 모아서 그리고, 5분 동안 메모리에 보관해서 같은 요청은 바로 응답합니다."
"본인 책 색깔이 미리보기에 그대로 들어가서, 친구가 봤을 때 '이게 네 거구나' 한 번에 알 수 있어요. 그리는 데 0.03초 걸립니다."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[9:15-10:00 / 45초]
"크롬에서 북마크를 한 번에 91권 가져왔는데, 폴더명만 있고 책 제목·키워드·색깔 정보가 없었습니다. 91개를 손으로 다 손볼 수는 없죠."
"옵션: 유료 GPT는 비용이 있고, 무료 Gemini는 품질이 충분하고, 직접 규칙으로 분류하면 한계가 있습니다."
"구글 Gemini 무료 모델 선택. 사용자별로 분당 호출 횟수를 제한해서 무료 한도를 안 넘게 했고, AI 결과는 백그라운드에서 천천히 채워서 사용자는 기다림 없이 끝납니다."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[10:00-10:45 / 45초]
"같은 코드 하나로 세 가지 화면 비율을 다 지원합니다. 데스크톱, 태블릿, 폰."
스크린샷 차례로 가리키며 — "왼쪽 데스크톱, 가운데 태블릿, 오른쪽 폰. 같은 도서관·같은 책장이지만, 화면 비율에 맞게 책장이 좌우 벽에 자연스럽게 배치되도록 분기해놨습니다."
"모바일에서 발견한 함정 두 가지가 오른쪽에 있는데:"
1. "모달이 열리자마자 닫히는 현상이 있었어요. 같은 손가락 터치가 모달 안 + 바깥을 동시에 인식해버려서요. 0.25초 동안 바깥 클릭 무시하도록 처리했습니다."
2. "마우스 올려야 보이는 버튼이 모바일에서는 영영 안 보이더라고요. 모바일은 항상 보이게 분기했습니다."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[10:45-11:30 / 45초]
세 가지 천천히 짚기.
1. "비전이 결정을 단순하게 만든다" — 두 질문 룰 덕분에 거절할 수 있었다.
2. "실패는 배포한 다음에 시작된다" — 로그인 버그, 메모리 부족 등 학원에서 안 다루는 환경 문제들.
3. "기능 위에 감정 한 겹을 얹는다" — 북마크 관리는 도구가 본업이지만, 그 위에 '꾸미는 재미'를 얹었습니다. 친구가 처음 써본 후 한 말이 "색깔 고르는 게 재밌다"였어요. 기능 칭찬이 아닌 감정 반응. 이게 북극성이 작동한 신호였습니다.
마무리: "이제 실제로 어떻게 작동하는지 보여드리겠습니다." → 데모로 자연 전환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[11:30-18:30 / 약 7분]
※ 라이브 시연 — 발표의 클라이맥스 ※
앞에서 컨셉·북극성·결정 다 설명했으니, 여기서 "그래서 실제로 어떻게 보이는데?"에 답한다.
시연 순서 (단계당 약 1분 + 도입/마무리):
1. 로그인 페이지 → "이렇게 작동해요" 첫 안내 화면 짚기
2. 크롬 북마크 가져오기 → AI가 뒤에서 자동 분류 도는 거 보여주기
3. 책 색깔 고르기 → AI 추천 한 번 누르고, 직접 골라보고, 최근 색 기억 보여주기
4. 책 드래그로 순서 바꾸기 → 책 등 색띠 잡고 위치 변경 (가능하면 모바일도)
5. 본인 도서관 공유 주소를 디스코드 또는 카톡에 붙여서 미리보기 카드 확인
※ 시간 관리: 한 단계 오래 끌면 다음 단계 짧게 — 7분 안에 무조건 끝낸다.
※ 만약 라이브 시연 실패 시: "이미 슬라이드로 설명드렸으니 빠르게 마무리하겠습니다" → 다음 슬라이드로 넘어가기.
※ 끝낼 때: "여기까지가 실제 작동 모습입니다. 마지막 슬라이드로 마무리하겠습니다."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[18:30-20:00 / 1:30 + Q&amp;A]
"감사합니다." — 짧고 명확히.
링크 3개가 보이도록 잠시 멈춰주기.
청중 질문이 들어오면 받기 (슬라이드에 "질문 받겠습니다" 명시 안 했지만, 발표자가 자연스럽게 "질문 있으시면 받겠습니다" 한 번 가능).
예상 질문 대비:
- "왜 Spring Boot인가요?" → 학원 커리큘럼 베이스 + 신규 메이저 버전 호환성까지 직접 검증한 경험 어필.
- "AI 비용은 어떻게 되나요?" → 구글 Gemini 무료 모델 사용. 호출 횟수 제한으로 한도 초과 방지.
- "혼자 다 만들었나요?" → 평면도 시각 디자인은 외부 디자이너와 협업, 코드·시스템 통합은 본인.
- "수익화 계획?" → DB 구조에 유료/무료 구분 필드만 미리 만들어뒀고, 결제 도입은 다음 버전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201168" cy="228600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0175" cy="2286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28993" y="1371600"/>
            <a:ext cx="30175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371600"/>
            <a:ext cx="201168" cy="914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14032" y="1280160"/>
            <a:ext cx="201168" cy="2468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Shape 5"/>
          <p:cNvSpPr/>
          <p:nvPr/>
        </p:nvSpPr>
        <p:spPr>
          <a:xfrm>
            <a:off x="7114032" y="1280160"/>
            <a:ext cx="30175" cy="24688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85025" y="1280160"/>
            <a:ext cx="30175" cy="24688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14032" y="1280160"/>
            <a:ext cx="201168" cy="98755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70064" y="1188720"/>
            <a:ext cx="201168" cy="2651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11" name="Shape 9"/>
          <p:cNvSpPr/>
          <p:nvPr/>
        </p:nvSpPr>
        <p:spPr>
          <a:xfrm>
            <a:off x="7370064" y="1188720"/>
            <a:ext cx="30175" cy="26517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41057" y="1188720"/>
            <a:ext cx="30175" cy="265176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70064" y="1188720"/>
            <a:ext cx="201168" cy="10607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6096" y="1371600"/>
            <a:ext cx="201168" cy="228600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6096" y="1371600"/>
            <a:ext cx="30175" cy="2286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97089" y="1371600"/>
            <a:ext cx="30175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26096" y="1371600"/>
            <a:ext cx="201168" cy="914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82128" y="1280160"/>
            <a:ext cx="201168" cy="246888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82128" y="1280160"/>
            <a:ext cx="30175" cy="24688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53121" y="1280160"/>
            <a:ext cx="30175" cy="24688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82128" y="1280160"/>
            <a:ext cx="201168" cy="98755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1188720"/>
            <a:ext cx="201168" cy="2651760"/>
          </a:xfrm>
          <a:prstGeom prst="rect">
            <a:avLst/>
          </a:prstGeom>
          <a:solidFill>
            <a:srgbClr val="7A8F6E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1188720"/>
            <a:ext cx="30175" cy="26517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309153" y="1188720"/>
            <a:ext cx="30175" cy="265176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1188720"/>
            <a:ext cx="201168" cy="10607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94192" y="1371600"/>
            <a:ext cx="201168" cy="228600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394192" y="1371600"/>
            <a:ext cx="30175" cy="2286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65185" y="1371600"/>
            <a:ext cx="30175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4192" y="1371600"/>
            <a:ext cx="201168" cy="9144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650224" y="1280160"/>
            <a:ext cx="201168" cy="2468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Shape 29"/>
          <p:cNvSpPr/>
          <p:nvPr/>
        </p:nvSpPr>
        <p:spPr>
          <a:xfrm>
            <a:off x="8650224" y="1280160"/>
            <a:ext cx="30175" cy="24688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821217" y="1280160"/>
            <a:ext cx="30175" cy="24688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50224" y="1280160"/>
            <a:ext cx="201168" cy="98755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4206240"/>
            <a:ext cx="2468880" cy="73152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5720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9144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 도서관</a:t>
            </a:r>
            <a:endParaRPr lang="en-US" sz="6000" dirty="0"/>
          </a:p>
        </p:txBody>
      </p:sp>
      <p:sp>
        <p:nvSpPr>
          <p:cNvPr id="37" name="Text 35"/>
          <p:cNvSpPr/>
          <p:nvPr/>
        </p:nvSpPr>
        <p:spPr>
          <a:xfrm>
            <a:off x="548640" y="20116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북마크가 한 권의 책이 된다면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" y="2514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 메타포 풀스택 프로젝트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91440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023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</a:t>
            </a:r>
            <a:r>
              <a:rPr lang="en-US" sz="18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r>
              <a:rPr lang="en-US" sz="1600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동성인재개발교육원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" y="4434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5월 18일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-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북마크 폴더,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-1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마지막으로 정리한 게 언제인가요?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042416" y="360273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38770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48256" y="36484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14016" y="39684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79776" y="37398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36976" y="39684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02736" y="36941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68496" y="39684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25696" y="378561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91456" y="401421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57216" y="36941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522976" y="39684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88736" y="37398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54496" y="401421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20256" y="378561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86016" y="396849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60336" y="36941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6096" y="39227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" y="41056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8176" y="424281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65376" y="41513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31136" y="428853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88336" y="41056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54096" y="4315968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11296" y="41056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77056" y="4315968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42816" y="41513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00016" y="4315968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65776" y="41056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31536" y="428853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97296" y="41513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63056" y="43342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28816" y="415137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94576" y="4315968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60336" y="410565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34656" y="4288536"/>
            <a:ext cx="109728" cy="109728"/>
          </a:xfrm>
          <a:prstGeom prst="ellipse">
            <a:avLst/>
          </a:prstGeom>
          <a:solidFill>
            <a:srgbClr val="8B5A3C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스크롤만 무한…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북마크는 도구이고, 도구는 정서가 없다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3017520"/>
          </a:xfrm>
          <a:prstGeom prst="rect">
            <a:avLst/>
          </a:prstGeom>
          <a:solidFill>
            <a:srgbClr val="F0EBE0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지금의 북마크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일렬 나열식 폴더 트리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많아질수록 못 찾음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방치 → 재검색 → 또 저장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정서적 보상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840480" cy="301752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kern="0" spc="2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</a:t>
            </a:r>
            <a:r>
              <a:rPr lang="en-US" sz="1300" b="1" kern="0" spc="2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가설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kern="0" spc="-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정리된 책장을 보면</a:t>
            </a:r>
            <a:endParaRPr lang="en-US" sz="1900" dirty="0"/>
          </a:p>
          <a:p>
            <a:pPr marL="0" indent="0">
              <a:buNone/>
            </a:pPr>
            <a:r>
              <a:rPr lang="en-US" sz="1900" b="1" kern="0" spc="-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뿌듯함을 느끼는 본능이 있다.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9204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 관리에 그 정서를 입히면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자체가 즐거워진다.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북마크를 책장의 책처럼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960120" cy="777240"/>
          </a:xfrm>
          <a:prstGeom prst="ellipse">
            <a:avLst/>
          </a:prstGeom>
          <a:solidFill>
            <a:srgbClr val="F0EBE0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960120" cy="777240"/>
          </a:xfrm>
          <a:prstGeom prst="ellipse">
            <a:avLst/>
          </a:prstGeom>
          <a:solidFill>
            <a:srgbClr val="8B5A3C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4173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하나가 색깔 있는 책 한 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960120" cy="777240"/>
          </a:xfrm>
          <a:prstGeom prst="ellipse">
            <a:avLst/>
          </a:prstGeom>
          <a:solidFill>
            <a:srgbClr val="F0EBE0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057400" y="2423160"/>
            <a:ext cx="960120" cy="777240"/>
          </a:xfrm>
          <a:prstGeom prst="ellipse">
            <a:avLst/>
          </a:prstGeom>
          <a:solidFill>
            <a:srgbClr val="8B5A3C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24231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폴더가 평면도의 책장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960120" cy="777240"/>
          </a:xfrm>
          <a:prstGeom prst="ellipse">
            <a:avLst/>
          </a:prstGeom>
          <a:solidFill>
            <a:srgbClr val="F0EBE0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4747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057400" y="3429000"/>
            <a:ext cx="960120" cy="777240"/>
          </a:xfrm>
          <a:prstGeom prst="ellipse">
            <a:avLst/>
          </a:prstGeom>
          <a:solidFill>
            <a:srgbClr val="8B5A3C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34290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sz="10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큐레이션 공간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1508760"/>
            <a:ext cx="3749040" cy="2145936"/>
          </a:xfrm>
          <a:prstGeom prst="rect">
            <a:avLst/>
          </a:prstGeom>
          <a:solidFill>
            <a:srgbClr val="8B5A3C"/>
          </a:solidFill>
          <a:ln/>
        </p:spPr>
      </p:sp>
      <p:pic>
        <p:nvPicPr>
          <p:cNvPr id="25" name="Image 0" descr="C:\Users\USER\OneDrive\Desktop\bookmark-library\presentation\screenshots\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54480"/>
            <a:ext cx="3657600" cy="20544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0" y="3746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도서관 평면도 — top-down 시점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제품의 성공 지표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73152" cy="17373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r>
              <a:rPr lang="en-US" sz="22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누군가가 내가 만든 북마크 도서관 UI를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꾸며서 공유해 올리는, 그런 것.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3A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성공 지표는 사용자 수가 아니라  “꾸미고 자랑하고 싶어지는가”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제품의 계보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AF7F2"/>
          </a:solidFill>
          <a:ln w="15240">
            <a:solidFill>
              <a:srgbClr val="8B5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싸이월드 미니홈피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37033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AF7F2"/>
          </a:solidFill>
          <a:ln w="15240">
            <a:solidFill>
              <a:srgbClr val="8B5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7033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AF7F2"/>
          </a:solidFill>
          <a:ln w="15240">
            <a:solidFill>
              <a:srgbClr val="8B5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Pinterest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7033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AF7F2"/>
          </a:solidFill>
          <a:ln w="15240">
            <a:solidFill>
              <a:srgbClr val="8B5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Tumblr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아닌 캔버스. 결과물에 “나”가 담기는 제품.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한도가 컨셉이다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237744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2560320" cy="9144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-300" dirty="0">
                <a:solidFill>
                  <a:srgbClr val="5C3A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219456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사용자당 도서관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User.MAX_LIBRARIES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560320" cy="237744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371600"/>
            <a:ext cx="2560320" cy="9144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-300" dirty="0">
                <a:solidFill>
                  <a:srgbClr val="5C3A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도서관당 책장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평면도 좌우 4개씩 균형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560320" cy="237744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371600"/>
            <a:ext cx="2560320" cy="9144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-300" dirty="0">
                <a:solidFill>
                  <a:srgbClr val="5C3A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768096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책장당 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 강제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“기록보관소”가 아닌 </a:t>
            </a:r>
            <a:r>
              <a:rPr lang="en-US" sz="14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큐레이션된 공간</a:t>
            </a: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한도 초과분은 별도 </a:t>
            </a:r>
            <a:r>
              <a:rPr lang="en-US" sz="14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창고(Storage)</a:t>
            </a:r>
            <a:r>
              <a:rPr lang="en-US" sz="14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무제한 보관 — 데이터 잃지 않으면서 도서관은 깨끗하게.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기능은 이 두 질문을 통과한다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0" cy="2651760"/>
          </a:xfrm>
          <a:prstGeom prst="rect">
            <a:avLst/>
          </a:prstGeom>
          <a:solidFill>
            <a:srgbClr val="FAF7F2"/>
          </a:solidFill>
          <a:ln w="19050">
            <a:solidFill>
              <a:srgbClr val="8B5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 메타포에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부합하는가?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“자동 정렬 옵션”은 통과 X — 큐레이션 캔버스 컨셉과 충돌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840480" cy="2651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-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꾸미고 자랑하고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-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싶어지는가?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색상 picker / 드래그 정렬 / 동적 OG 이미지 — 모두 통과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3A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통과해야 빌드 — “효율적 도구” 단순화 제안은 의식적으로 거절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구조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↔ 백엔드 ↔ DB ·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783080" cy="146304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 / 모바일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783080" cy="146304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 호스팅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783080" cy="1463040"/>
          </a:xfrm>
          <a:prstGeom prst="rect">
            <a:avLst/>
          </a:prstGeom>
          <a:solidFill>
            <a:srgbClr val="5C3A2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로직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 호스팅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75120" y="1554480"/>
            <a:ext cx="1783080" cy="1463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· AI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331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저장소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자동 분류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2560320" cy="109728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383280"/>
            <a:ext cx="54864" cy="109728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미리보기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디스코드 · 카톡 봇에는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미리보기용 화면을 따로 응답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383280"/>
            <a:ext cx="2560320" cy="109728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383280"/>
            <a:ext cx="54864" cy="109728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로그인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프론트와 백엔드가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주소로 보이도록 통일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383280"/>
            <a:ext cx="2560320" cy="109728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383280"/>
            <a:ext cx="54864" cy="109728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캐시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도서관별 이미지를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5분간 메모리에 보관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 기술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 err="1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</a:t>
            </a: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800" b="1" kern="0" spc="-50" dirty="0" err="1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320040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2560320" cy="45720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4 (Java 17)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로그인 (OAuth)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— DB 연결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— 데이터 저장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캐시 (Caffeine)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320040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solidFill>
            <a:srgbClr val="5C3A2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+ TypeScript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— 개발 서버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Pixi.js — 평면도 그래픽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정렬 라이브러리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— 스타일링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AF7F2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·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 — 서버 호스팅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 — 화면 호스팅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— 배포 자동화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— AI 자동 분류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사용자별 호출 제한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1 — 평면도 그리기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평면도를 어떻게 그릴까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2E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책장이 일렬로 죽 늘어선 형태면 “도서관” 느낌이 안 살아난다. 위에서 내려다보는 평면도가 필요.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4가지를 비교: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HTML, SVG 그림, 캔버스, Pixi.js (게임용 그래픽).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100권 + 모바일에서도 부드러워야 함.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Pixi.js 선택.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엔진처럼 GPU를 써서 빠르고, 시간대 전환도 부드럽게 처리.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6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낮·저녁·밤 광원 자연스럽게 바뀌고,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색 다양해도 끊김 없음.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모바일·태블릿·데스크톱 모두 같은 코드로 작동.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2 — 배포 직후의 첫 버그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배포하자마자 로그인이 안 됐다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2E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인증은 통과되는데 마지막 단계에서 에러.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 화면 주소(vercel)와 서버 주소(railway)가 달라서 로그인 정보가 따라오지 못함.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3가지: 전체 구조 다시 짜기 / 쿠키 도메인 강제 설정 / 콜백 주소 직접 지정.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가장 적은 코드 수정으로 끝내는 게 핵심.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설정에서 콜백 주소를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주소로 명시 고정.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6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→ 프론트 → 서버 흐름이 한 도메인 안에서 일관 유지.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성공. 진단에 반나절, 픽스는 한 줄.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3 — 공유했을 때 미리보기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주소의 미리보기를 살리려면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2E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디스코드·카톡·트위터에 주소를 붙이면 보통 미리보기 카드가 뜬다.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React로 만든 화면은 봇이 빈 화면으로 인식 → 미리보기 0 → 입소문 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3가지: 전체 구조 다시 짜기 / 모든 페이지 미리 만들기 / 봇에게만 다른 화면 응답.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첫 두 개는 비용이 큼.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봇만 따로 인식해서 미리보기용 HTML을 보내고,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평소대로 React 화면을 받게 설정.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6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디스코드·트위터·카톡 봇은 미리보기 카드를 받고,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사용자는 평소대로 사이트 이용. 양쪽 모두 손해 0.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4 — 도서관별 미리보기 이미지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이미지를 어떻게 만들까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2E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도서관이 똑같은 이미지면 “어, 내 거다”라는 어필이 없다.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각자의 책 색깔이 미리보기에 들어가야 클릭 욕구가 생긴다.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3가지: 화면을 매번 캡처해서 저장(용량 폭주로 실패) / 요청 올 때마다 새로 그리기(느림) / 한 번 그린 걸 잠시 저장.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서버에서 도서관별로 책 색깔만 모아 그리고,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5분간 메모리에 보관 후 같은 요청은 바로 응답.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6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책 색이 그대로 미리보기에 들어감 (그리는 데 0.03초).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도서관 수정하면 자동으로 새 미리보기로 갱신.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5 — AI 자동 분류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어떻게 끼워 넣을까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A2E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크롬에서 북마크 91권을 한 번에 가져오면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폴더명만 있고 제대로 된 제목·키워드·색이 없다.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91개를 손으로 다 손볼 수는 없음.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099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3가지: 유료 GPT (비용), 무료 Gemini (품질 충분), 직접 규칙으로 분류 (한계).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무료 가능성 + 학습 가치 고려.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73152" cy="1508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Gemini 무료 모델 사용.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사용자별 분당 호출 제한 + 결과는 백그라운드에서 천천히 채움.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50876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17520"/>
            <a:ext cx="73152" cy="150876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6B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제목·키워드·표지색이 자동으로 들어감.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한도 안에서 안정적, 사용자는 기다림 없이 import 끝남.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개의 코드 / 세 개의 화면 비율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12064" y="2066544"/>
            <a:ext cx="2108024" cy="1216152"/>
          </a:xfrm>
          <a:prstGeom prst="rect">
            <a:avLst/>
          </a:prstGeom>
          <a:solidFill>
            <a:srgbClr val="8B5A3C"/>
          </a:solidFill>
          <a:ln/>
        </p:spPr>
      </p:sp>
      <p:pic>
        <p:nvPicPr>
          <p:cNvPr id="7" name="Image 0" descr="C:\Users\USER\OneDrive\Desktop\bookmark-library\presentation\screenshots\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034872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37560"/>
            <a:ext cx="221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593592"/>
            <a:ext cx="221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16:9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3813048"/>
            <a:ext cx="258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21256" y="1655064"/>
            <a:ext cx="1464144" cy="1627632"/>
          </a:xfrm>
          <a:prstGeom prst="rect">
            <a:avLst/>
          </a:prstGeom>
          <a:solidFill>
            <a:srgbClr val="8B5A3C"/>
          </a:solidFill>
          <a:ln/>
        </p:spPr>
      </p:sp>
      <p:pic>
        <p:nvPicPr>
          <p:cNvPr id="12" name="Image 1" descr="C:\Users\USER\OneDrive\Desktop\bookmark-library\presentation\screenshots\tab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832" y="1691640"/>
            <a:ext cx="1390992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66392" y="3337560"/>
            <a:ext cx="157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66392" y="3593592"/>
            <a:ext cx="1573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5:7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83512" y="3813048"/>
            <a:ext cx="1939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&lt;1080px portrait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486568" y="1517904"/>
            <a:ext cx="1045980" cy="1764792"/>
          </a:xfrm>
          <a:prstGeom prst="rect">
            <a:avLst/>
          </a:prstGeom>
          <a:solidFill>
            <a:srgbClr val="8B5A3C"/>
          </a:solidFill>
          <a:ln/>
        </p:spPr>
      </p:sp>
      <p:pic>
        <p:nvPicPr>
          <p:cNvPr id="17" name="Image 2" descr="C:\Users\USER\OneDrive\Desktop\bookmark-library\presentation\screenshots\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144" y="1554480"/>
            <a:ext cx="972828" cy="1691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1704" y="3337560"/>
            <a:ext cx="1155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431704" y="3593592"/>
            <a:ext cx="1155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9:16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248824" y="3813048"/>
            <a:ext cx="15214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&lt;600px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577840" y="1371600"/>
            <a:ext cx="3108960" cy="301752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22" name="Text 17"/>
          <p:cNvSpPr/>
          <p:nvPr/>
        </p:nvSpPr>
        <p:spPr>
          <a:xfrm>
            <a:off x="576072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모바일에서 발견한 함정 2가지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7607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열자마자 닫히는 모달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760720" y="22128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터치한 위치에 모달이 즉시 떠서, 같은 터치가 바깥을 누른 걸로 인식 → 0.2초 만에 닫힘.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모달을 연 직후 0.25초간 바깥 클릭을 무시하도록 처리.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76072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모바일에서 안 보이는 버튼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760720" y="34930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마우스를 올려야 보이는 편집 · 삭제 버튼이 모바일에서는 영영 안 보임.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데스크톱에서만 마우스 올리기로 보이게 하고, 모바일은 항상 보이게 분기.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274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프로젝트에서 배운 세 가지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00200" y="14904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비전이 결정을 단순하게 만든다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“두 질문 룰” 덕분에 자동정렬 옵션·목록형 fallback 같은 “효율적” 제안을 거절할 수 있었다. 비전이 없으면 모든 좋아 보이는 기능을 다 받는다.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7863840" cy="91440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600200" y="25420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실패는 배포 후에 시작된다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880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OAuth 도메인 픽스 · OG 캡처 폭주 · JVM heap </a:t>
            </a:r>
            <a:r>
              <a:rPr lang="ko-KR" alt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부족 </a:t>
            </a:r>
            <a:r>
              <a:rPr lang="en-US" altLang="ko-KR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무한 재시작 루프</a:t>
            </a:r>
            <a:r>
              <a:rPr lang="en-US" altLang="ko-KR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Vercel rewrite — 학교에서 다루지 않는 “</a:t>
            </a:r>
            <a:r>
              <a:rPr lang="en-US" sz="1150" dirty="0" err="1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환경이</a:t>
            </a: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</a:t>
            </a:r>
            <a:r>
              <a:rPr lang="ko-KR" alt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든</a:t>
            </a: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버그”. 진단력은 운영해야 자란다.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0EBE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B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00200" y="3593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위에 감정 한 겹을 얹는다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5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북마크 관리 도구는 기본, 그 위에 “꾸미는 재미”가 얹혀야 사용자가 다시 온다. 친구 첫 피드백이 기능 칭찬이 아닌 “색깔 고르는 게 재밌다”였다. 정서가 작동한 신호.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북마크 도서관 · 2026.05.18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직접 보여드릴게요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시연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bookmark-library-iota.vercel.app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914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914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+ 첫 안내 화면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691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크롬 북마크 가져오기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AI가 뒤에서 자동 분류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색깔 고르기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 추천 + 최근 색 기억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246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드래그로 순서 바꾸기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책 등 색띠를 잡고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023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주소를 디스코드에 붙여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카드 확인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201168" cy="20116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30175" cy="20116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8193" y="1463040"/>
            <a:ext cx="30175" cy="20116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01168" cy="8046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201168" cy="2194560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371600"/>
            <a:ext cx="30175" cy="21945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4225" y="1371600"/>
            <a:ext cx="30175" cy="219456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371600"/>
            <a:ext cx="201168" cy="8778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1280160"/>
            <a:ext cx="201168" cy="2377440"/>
          </a:xfrm>
          <a:prstGeom prst="rect">
            <a:avLst/>
          </a:prstGeom>
          <a:solidFill>
            <a:srgbClr val="4A6B47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1280160"/>
            <a:ext cx="30175" cy="237744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0257" y="1280160"/>
            <a:ext cx="30175" cy="237744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1280160"/>
            <a:ext cx="201168" cy="95098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1463040"/>
            <a:ext cx="201168" cy="201168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1463040"/>
            <a:ext cx="30175" cy="20116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96289" y="1463040"/>
            <a:ext cx="30175" cy="20116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25296" y="1463040"/>
            <a:ext cx="201168" cy="8046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81328" y="1371600"/>
            <a:ext cx="201168" cy="2194560"/>
          </a:xfrm>
          <a:prstGeom prst="rect">
            <a:avLst/>
          </a:prstGeom>
          <a:solidFill>
            <a:srgbClr val="3B5E7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1328" y="1371600"/>
            <a:ext cx="30175" cy="21945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52321" y="1371600"/>
            <a:ext cx="30175" cy="219456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81328" y="1371600"/>
            <a:ext cx="201168" cy="8778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1280160"/>
            <a:ext cx="201168" cy="2377440"/>
          </a:xfrm>
          <a:prstGeom prst="rect">
            <a:avLst/>
          </a:prstGeom>
          <a:solidFill>
            <a:srgbClr val="7A8F6E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1280160"/>
            <a:ext cx="30175" cy="237744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8353" y="1280160"/>
            <a:ext cx="30175" cy="237744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37360" y="1280160"/>
            <a:ext cx="201168" cy="95098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93392" y="1463040"/>
            <a:ext cx="201168" cy="20116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5"/>
          <p:cNvSpPr/>
          <p:nvPr/>
        </p:nvSpPr>
        <p:spPr>
          <a:xfrm>
            <a:off x="1993392" y="1463040"/>
            <a:ext cx="30175" cy="20116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64385" y="1463040"/>
            <a:ext cx="30175" cy="201168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93392" y="1463040"/>
            <a:ext cx="201168" cy="8046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886200"/>
            <a:ext cx="2194560" cy="73152"/>
          </a:xfrm>
          <a:prstGeom prst="rect">
            <a:avLst/>
          </a:prstGeom>
          <a:solidFill>
            <a:srgbClr val="8B5A3C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100" dirty="0">
                <a:solidFill>
                  <a:srgbClr val="FAF7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32" name="Shape 30"/>
          <p:cNvSpPr/>
          <p:nvPr/>
        </p:nvSpPr>
        <p:spPr>
          <a:xfrm>
            <a:off x="3200400" y="2377440"/>
            <a:ext cx="914400" cy="1828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 </a:t>
            </a:r>
            <a:r>
              <a:rPr lang="en-US" sz="1400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bookmark-library-iota.vercel.app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  </a:t>
            </a:r>
            <a:r>
              <a:rPr lang="en-US" sz="1400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github.com/wodud17711/bookmark-library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CD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 </a:t>
            </a:r>
            <a:r>
              <a:rPr lang="en-US" sz="1400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jaeyoung17711@gmail.com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D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· 동성인재개발교육원 · 2026.05.18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2913</Words>
  <Application>Microsoft Office PowerPoint</Application>
  <PresentationFormat>화면 슬라이드 쇼(16:9)</PresentationFormat>
  <Paragraphs>307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Pretendard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동성인재개발교육원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북마크 도서관 — 도서관 메타포 풀스택 프로젝트</dc:title>
  <dc:subject>PptxGenJS Presentation</dc:subject>
  <dc:creator>임재영</dc:creator>
  <cp:lastModifiedBy>wodud12123@naver.com</cp:lastModifiedBy>
  <cp:revision>1</cp:revision>
  <dcterms:created xsi:type="dcterms:W3CDTF">2026-05-17T04:24:52Z</dcterms:created>
  <dcterms:modified xsi:type="dcterms:W3CDTF">2026-05-17T09:28:01Z</dcterms:modified>
</cp:coreProperties>
</file>